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M1" Type="http://schemas.openxmlformats.org/officeDocument/2006/relationships/slideMaster" Target="slideMasters/slideMaster1.xml"/>
  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le 2"/>
          <p:cNvSpPr/>
          <p:nvPr/>
        </p:nvSpPr>
        <p:spPr>
          <a:xfrm>
            <a:off x="685800" y="1900000"/>
            <a:ext cx="900000" cy="30000"/>
          </a:xfrm>
          <a:prstGeom prst="rect">
            <a:avLst/>
          </a:prstGeom>
          <a:solidFill>
            <a:srgbClr val="B4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85800" y="1980000"/>
            <a:ext cx="10820400" cy="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4392B"/>
                </a:solidFill>
                <a:latin typeface="Consolas"/>
              </a:rPr>
              <a:t>SALES &amp; FINANCIAL DATA REVIEW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2350000"/>
            <a:ext cx="10820400" cy="15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4400" b="1" dirty="0">
                <a:solidFill>
                  <a:srgbClr val="15181C"/>
                </a:solidFill>
                <a:latin typeface="Segoe UI"/>
              </a:rPr>
              <a:t>Red30 Tech</a:t>
            </a:r>
          </a:p>
          <a:p>
            <a:pPr algn="l">
              <a:spcAft>
                <a:spcPts val="0"/>
              </a:spcAft>
              <a:buNone/>
            </a:pPr>
            <a:r>
              <a:rPr lang="en-US" sz="2800" dirty="0">
                <a:solidFill>
                  <a:srgbClr val="52565C"/>
                </a:solidFill>
                <a:latin typeface="Segoe UI"/>
              </a:rPr>
              <a:t>Key Insights from the Finance Spreadsheets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4050000"/>
            <a:ext cx="10820400" cy="9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52565C"/>
                </a:solidFill>
                <a:latin typeface="Segoe UI"/>
              </a:rPr>
              <a:t>Executive summary of findings across 11 spreadsheets: five years of financial statements and two years of order-level sales data.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6150000"/>
            <a:ext cx="10820400" cy="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8A8D85"/>
                </a:solidFill>
                <a:latin typeface="Consolas"/>
              </a:rPr>
              <a:t>Prepared August 8, 2026  ·  finance/ directory, 11 source files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le 2"/>
          <p:cNvSpPr/>
          <p:nvPr/>
        </p:nvSpPr>
        <p:spPr>
          <a:xfrm>
            <a:off x="685800" y="442000"/>
            <a:ext cx="320000" cy="25000"/>
          </a:xfrm>
          <a:prstGeom prst="rect">
            <a:avLst/>
          </a:prstGeom>
          <a:solidFill>
            <a:srgbClr val="B4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85800" y="380000"/>
            <a:ext cx="104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392B"/>
                </a:solidFill>
                <a:latin typeface="Consolas"/>
              </a:rPr>
              <a:t>EXECUTIVE 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0000"/>
            <a:ext cx="10820400" cy="85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5181C"/>
                </a:solidFill>
                <a:latin typeface="Segoe UI"/>
              </a:rPr>
              <a:t>Three takeaways for leadership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550000"/>
            <a:ext cx="10820400" cy="3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285750" indent="-285750" algn="l">
              <a:spcAft>
                <a:spcPts val="500"/>
              </a:spcAft>
              <a:buFont typeface="Arial"/>
              <a:buChar char="•"/>
            </a:pPr>
            <a:r>
              <a:rPr lang="en-US" sz="1700" b="1" dirty="0">
                <a:solidFill>
                  <a:srgbClr val="15181C"/>
                </a:solidFill>
                <a:latin typeface="Segoe UI"/>
              </a:rPr>
              <a:t>Growth is real but slow, and margin is quietly eroding.</a:t>
            </a:r>
            <a:r>
              <a:rPr lang="en-US" sz="1700" dirty="0">
                <a:solidFill>
                  <a:srgbClr val="52565C"/>
                </a:solidFill>
                <a:latin typeface="Segoe UI"/>
              </a:rPr>
              <a:t> Revenue grew 2.6%/yr from 2014–2018 while gross margin slipped from 63.6% to 62.2% — well under real-world U.S. retail (4.0–4.3%/yr) and e-commerce (14–16%/yr) growth over the same period.</a:t>
            </a:r>
          </a:p>
          <a:p>
            <a:pPr marL="285750" indent="-285750" algn="l">
              <a:spcAft>
                <a:spcPts val="500"/>
              </a:spcAft>
              <a:buFont typeface="Arial"/>
              <a:buChar char="•"/>
            </a:pPr>
            <a:r>
              <a:rPr lang="en-US" sz="1700" b="1" dirty="0">
                <a:solidFill>
                  <a:srgbClr val="15181C"/>
                </a:solidFill>
                <a:latin typeface="Segoe UI"/>
              </a:rPr>
              <a:t>Working capital is stretching.</a:t>
            </a:r>
            <a:r>
              <a:rPr lang="en-US" sz="1700" dirty="0">
                <a:solidFill>
                  <a:srgbClr val="52565C"/>
                </a:solidFill>
                <a:latin typeface="Segoe UI"/>
              </a:rPr>
              <a:t> Accounts Receivable grew +81% against a –5% decline in Accounts Payable — the balance sheet is expanding faster than the business generating it.</a:t>
            </a:r>
          </a:p>
          <a:p>
            <a:pPr marL="285750" indent="-285750" algn="l">
              <a:spcAft>
                <a:spcPts val="500"/>
              </a:spcAft>
              <a:buFont typeface="Arial"/>
              <a:buChar char="•"/>
            </a:pPr>
            <a:r>
              <a:rPr lang="en-US" sz="1700" b="1" dirty="0">
                <a:solidFill>
                  <a:srgbClr val="15181C"/>
                </a:solidFill>
                <a:latin typeface="Segoe UI"/>
              </a:rPr>
              <a:t>The reporting can’t be trusted end-to-end.</a:t>
            </a:r>
            <a:r>
              <a:rPr lang="en-US" sz="1700" dirty="0">
                <a:solidFill>
                  <a:srgbClr val="52565C"/>
                </a:solidFill>
                <a:latin typeface="Segoe UI"/>
              </a:rPr>
              <a:t> Three files report three different “total revenue” figures for the same company (a 147× spread), and several workbook labels are stale or inconsistent.</a:t>
            </a:r>
          </a:p>
        </p:txBody>
      </p:sp>
      <p:sp>
        <p:nvSpPr>
          <p:cNvPr id="6" name="Card 6"/>
          <p:cNvSpPr/>
          <p:nvPr/>
        </p:nvSpPr>
        <p:spPr>
          <a:xfrm>
            <a:off x="685800" y="5350000"/>
            <a:ext cx="10820400" cy="900000"/>
          </a:xfrm>
          <a:prstGeom prst="roundRect">
            <a:avLst>
              <a:gd name="adj" fmla="val 3000"/>
            </a:avLst>
          </a:prstGeom>
          <a:solidFill>
            <a:srgbClr val="FBEFEC"/>
          </a:solidFill>
          <a:ln w="9525">
            <a:solidFill>
              <a:srgbClr val="B439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945800" y="5530000"/>
            <a:ext cx="10300400" cy="6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15181C"/>
                </a:solidFill>
                <a:latin typeface="Segoe UI"/>
              </a:rPr>
              <a:t>None of this is disqualifying — it’s a normal state for a growing operation — but each point below is worth a controller’s attention.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6428000"/>
            <a:ext cx="10820400" cy="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8A8D85"/>
                </a:solidFill>
                <a:latin typeface="Consolas"/>
              </a:rPr>
              <a:t>Red30 Tech · Key Insights · Slide 2 of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le 2"/>
          <p:cNvSpPr/>
          <p:nvPr/>
        </p:nvSpPr>
        <p:spPr>
          <a:xfrm>
            <a:off x="685800" y="442000"/>
            <a:ext cx="320000" cy="25000"/>
          </a:xfrm>
          <a:prstGeom prst="rect">
            <a:avLst/>
          </a:prstGeom>
          <a:solidFill>
            <a:srgbClr val="B4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85800" y="380000"/>
            <a:ext cx="104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392B"/>
                </a:solidFill>
                <a:latin typeface="Consolas"/>
              </a:rPr>
              <a:t>FINDING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0000"/>
            <a:ext cx="10820400" cy="85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5181C"/>
                </a:solidFill>
                <a:latin typeface="Segoe UI"/>
              </a:rPr>
              <a:t>Revenue is climbing. Margin is not.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650000"/>
            <a:ext cx="10820400" cy="22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800" dirty="0">
                <a:solidFill>
                  <a:srgbClr val="15181C"/>
                </a:solidFill>
                <a:latin typeface="Segoe UI"/>
              </a:rPr>
              <a:t>Gross Revenue grew from $914.8M (2014) to $1,013.1M (2018) </a:t>
            </a:r>
            <a:r>
              <a:rPr lang="en-US" sz="1800" dirty="0">
                <a:solidFill>
                  <a:srgbClr val="52565C"/>
                </a:solidFill>
                <a:latin typeface="Segoe UI"/>
              </a:rPr>
              <a:t>— a 2.6%/yr compound rate.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800" dirty="0">
                <a:solidFill>
                  <a:srgbClr val="15181C"/>
                </a:solidFill>
                <a:latin typeface="Segoe UI"/>
              </a:rPr>
              <a:t>Gross margin declined from 63.6% to 62.2% (–1.4 pts) </a:t>
            </a:r>
            <a:r>
              <a:rPr lang="en-US" sz="1800" dirty="0">
                <a:solidFill>
                  <a:srgbClr val="52565C"/>
                </a:solidFill>
                <a:latin typeface="Segoe UI"/>
              </a:rPr>
              <a:t>as COGS grew slightly faster than revenue in 4 of the 5 years.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800" dirty="0">
                <a:solidFill>
                  <a:srgbClr val="15181C"/>
                </a:solidFill>
                <a:latin typeface="Segoe UI"/>
              </a:rPr>
              <a:t>Operating margin ended flat at 12.6% (2018 vs. 2014), </a:t>
            </a:r>
            <a:r>
              <a:rPr lang="en-US" sz="1800" dirty="0">
                <a:solidFill>
                  <a:srgbClr val="52565C"/>
                </a:solidFill>
                <a:latin typeface="Segoe UI"/>
              </a:rPr>
              <a:t>after dipping to 10.9% in 2015.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6428000"/>
            <a:ext cx="10820400" cy="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8A8D85"/>
                </a:solidFill>
                <a:latin typeface="Consolas"/>
              </a:rPr>
              <a:t>Red30 Tech · Key Insights · Slide 3 of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le 2"/>
          <p:cNvSpPr/>
          <p:nvPr/>
        </p:nvSpPr>
        <p:spPr>
          <a:xfrm>
            <a:off x="685800" y="442000"/>
            <a:ext cx="320000" cy="25000"/>
          </a:xfrm>
          <a:prstGeom prst="rect">
            <a:avLst/>
          </a:prstGeom>
          <a:solidFill>
            <a:srgbClr val="B4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85800" y="380000"/>
            <a:ext cx="104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392B"/>
                </a:solidFill>
                <a:latin typeface="Consolas"/>
              </a:rPr>
              <a:t>FINDING 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0000"/>
            <a:ext cx="10820400" cy="85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5181C"/>
                </a:solidFill>
                <a:latin typeface="Segoe UI"/>
              </a:rPr>
              <a:t>Receivables are outrunning payables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650000"/>
            <a:ext cx="10820400" cy="16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800" b="1" dirty="0">
                <a:solidFill>
                  <a:srgbClr val="B4392B"/>
                </a:solidFill>
                <a:latin typeface="Segoe UI"/>
              </a:rPr>
              <a:t>Accounts Receivable grew +81% (2014–18) </a:t>
            </a:r>
            <a:r>
              <a:rPr lang="en-US" sz="1800" dirty="0">
                <a:solidFill>
                  <a:srgbClr val="52565C"/>
                </a:solidFill>
                <a:latin typeface="Segoe UI"/>
              </a:rPr>
              <a:t>while Accounts Payable shrank –5%.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800" dirty="0">
                <a:solidFill>
                  <a:srgbClr val="15181C"/>
                </a:solidFill>
                <a:latin typeface="Segoe UI"/>
              </a:rPr>
              <a:t>Total Assets grew 39% against revenue’s 11% growth </a:t>
            </a:r>
            <a:r>
              <a:rPr lang="en-US" sz="1800" dirty="0">
                <a:solidFill>
                  <a:srgbClr val="52565C"/>
                </a:solidFill>
                <a:latin typeface="Segoe UI"/>
              </a:rPr>
              <a:t>over the same period — the balance sheet is expanding much faster than the business.</a:t>
            </a:r>
          </a:p>
        </p:txBody>
      </p:sp>
      <p:sp>
        <p:nvSpPr>
          <p:cNvPr id="6" name="Card 6"/>
          <p:cNvSpPr/>
          <p:nvPr/>
        </p:nvSpPr>
        <p:spPr>
          <a:xfrm>
            <a:off x="685800" y="3450000"/>
            <a:ext cx="10820400" cy="1000000"/>
          </a:xfrm>
          <a:prstGeom prst="roundRect">
            <a:avLst>
              <a:gd name="adj" fmla="val 3000"/>
            </a:avLst>
          </a:prstGeom>
          <a:solidFill>
            <a:srgbClr val="FBEFEC"/>
          </a:solidFill>
          <a:ln w="9525">
            <a:solidFill>
              <a:srgbClr val="B439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945800" y="3620000"/>
            <a:ext cx="10300400" cy="7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4392B"/>
                </a:solidFill>
                <a:latin typeface="Segoe UI"/>
              </a:rPr>
              <a:t>Executive read: </a:t>
            </a:r>
            <a:r>
              <a:rPr lang="en-US" sz="1600" dirty="0">
                <a:solidFill>
                  <a:srgbClr val="15181C"/>
                </a:solidFill>
                <a:latin typeface="Segoe UI"/>
              </a:rPr>
              <a:t>if this were a real ledger, it’s the first place a controller would look — cash conversion is stretching even as the top line barely moves.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6428000"/>
            <a:ext cx="10820400" cy="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8A8D85"/>
                </a:solidFill>
                <a:latin typeface="Consolas"/>
              </a:rPr>
              <a:t>Red30 Tech · Key Insights · Slide 4 of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le 2"/>
          <p:cNvSpPr/>
          <p:nvPr/>
        </p:nvSpPr>
        <p:spPr>
          <a:xfrm>
            <a:off x="685800" y="442000"/>
            <a:ext cx="320000" cy="25000"/>
          </a:xfrm>
          <a:prstGeom prst="rect">
            <a:avLst/>
          </a:prstGeom>
          <a:solidFill>
            <a:srgbClr val="B4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85800" y="380000"/>
            <a:ext cx="104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392B"/>
                </a:solidFill>
                <a:latin typeface="Consolas"/>
              </a:rPr>
              <a:t>FINDING 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0000"/>
            <a:ext cx="10820400" cy="85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5181C"/>
                </a:solidFill>
                <a:latin typeface="Segoe UI"/>
              </a:rPr>
              <a:t>Revenue concentrates. Inventory doesn’t follow it.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650000"/>
            <a:ext cx="10820400" cy="22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800" b="1" dirty="0">
                <a:solidFill>
                  <a:srgbClr val="15181C"/>
                </a:solidFill>
                <a:latin typeface="Segoe UI"/>
              </a:rPr>
              <a:t>Software (28%) and Hardware (17%) </a:t>
            </a:r>
            <a:r>
              <a:rPr lang="en-US" sz="1800" dirty="0">
                <a:solidFill>
                  <a:srgbClr val="52565C"/>
                </a:solidFill>
                <a:latin typeface="Segoe UI"/>
              </a:rPr>
              <a:t>make up 45% of the $121.3M product-line revenue total.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800" b="1" dirty="0">
                <a:solidFill>
                  <a:srgbClr val="B4392B"/>
                </a:solidFill>
                <a:latin typeface="Segoe UI"/>
              </a:rPr>
              <a:t>Robots holds 41% of all inventory value </a:t>
            </a:r>
            <a:r>
              <a:rPr lang="en-US" sz="1800" dirty="0">
                <a:solidFill>
                  <a:srgbClr val="52565C"/>
                </a:solidFill>
                <a:latin typeface="Segoe UI"/>
              </a:rPr>
              <a:t>($481K of $1.19M) but generates only 7.5% of revenue ($9.1M) — a likely overstock.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800" dirty="0">
                <a:solidFill>
                  <a:srgbClr val="15181C"/>
                </a:solidFill>
                <a:latin typeface="Segoe UI"/>
              </a:rPr>
              <a:t>Blueprints sits at the other extreme: </a:t>
            </a:r>
            <a:r>
              <a:rPr lang="en-US" sz="1800" dirty="0">
                <a:solidFill>
                  <a:srgbClr val="52565C"/>
                </a:solidFill>
                <a:latin typeface="Segoe UI"/>
              </a:rPr>
              <a:t>just 2.3% of revenue.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6428000"/>
            <a:ext cx="10820400" cy="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8A8D85"/>
                </a:solidFill>
                <a:latin typeface="Consolas"/>
              </a:rPr>
              <a:t>Red30 Tech · Key Insights · Slide 5 of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le 2"/>
          <p:cNvSpPr/>
          <p:nvPr/>
        </p:nvSpPr>
        <p:spPr>
          <a:xfrm>
            <a:off x="685800" y="442000"/>
            <a:ext cx="320000" cy="25000"/>
          </a:xfrm>
          <a:prstGeom prst="rect">
            <a:avLst/>
          </a:prstGeom>
          <a:solidFill>
            <a:srgbClr val="B4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85800" y="380000"/>
            <a:ext cx="104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392B"/>
                </a:solidFill>
                <a:latin typeface="Consolas"/>
              </a:rPr>
              <a:t>SALES 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0000"/>
            <a:ext cx="10820400" cy="85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181C"/>
                </a:solidFill>
                <a:latin typeface="Segoe UI"/>
              </a:rPr>
              <a:t>Quarterly order revenue, Q3 2017–Q3 2019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3368.4210526315" y="1500000"/>
            <a:ext cx="5605263.157894737" cy="3550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85800" y="5140000"/>
            <a:ext cx="10820400" cy="7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52565C"/>
                </a:solidFill>
                <a:latin typeface="Segoe UI"/>
              </a:rPr>
              <a:t>4,976 orders swing between $638K and $1.06M per quarter with no sustained trend up or down — growth here is essentially flat across the two-year window.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6428000"/>
            <a:ext cx="10820400" cy="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8A8D85"/>
                </a:solidFill>
                <a:latin typeface="Consolas"/>
              </a:rPr>
              <a:t>Red30 Tech · Key Insights · Slide 6 of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le 2"/>
          <p:cNvSpPr/>
          <p:nvPr/>
        </p:nvSpPr>
        <p:spPr>
          <a:xfrm>
            <a:off x="685800" y="442000"/>
            <a:ext cx="320000" cy="25000"/>
          </a:xfrm>
          <a:prstGeom prst="rect">
            <a:avLst/>
          </a:prstGeom>
          <a:solidFill>
            <a:srgbClr val="B4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85800" y="380000"/>
            <a:ext cx="104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392B"/>
                </a:solidFill>
                <a:latin typeface="Consolas"/>
              </a:rPr>
              <a:t>SALES 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0000"/>
            <a:ext cx="10820400" cy="85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181C"/>
                </a:solidFill>
                <a:latin typeface="Segoe UI"/>
              </a:rPr>
              <a:t>Revenue by order type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3368.4210526315" y="1500000"/>
            <a:ext cx="5605263.157894737" cy="3550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85800" y="5140000"/>
            <a:ext cx="10820400" cy="7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52565C"/>
                </a:solidFill>
                <a:latin typeface="Segoe UI"/>
              </a:rPr>
              <a:t>Wholesale drives 88.7% of order revenue ($6.12M of $6.90M) and sets the shape of the overall trend; Retail (11.3%, $782K) stays flat and small throughout — despite the file’s name, this is a wholesale book.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6428000"/>
            <a:ext cx="10820400" cy="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8A8D85"/>
                </a:solidFill>
                <a:latin typeface="Consolas"/>
              </a:rPr>
              <a:t>Red30 Tech · Key Insights · Slide 7 of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le 2"/>
          <p:cNvSpPr/>
          <p:nvPr/>
        </p:nvSpPr>
        <p:spPr>
          <a:xfrm>
            <a:off x="685800" y="442000"/>
            <a:ext cx="320000" cy="25000"/>
          </a:xfrm>
          <a:prstGeom prst="rect">
            <a:avLst/>
          </a:prstGeom>
          <a:solidFill>
            <a:srgbClr val="B4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85800" y="380000"/>
            <a:ext cx="104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392B"/>
                </a:solidFill>
                <a:latin typeface="Consolas"/>
              </a:rPr>
              <a:t>SALES 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0000"/>
            <a:ext cx="10820400" cy="85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181C"/>
                </a:solidFill>
                <a:latin typeface="Segoe UI"/>
              </a:rPr>
              <a:t>Quarterly revenue by sales region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7250.0" y="1500000"/>
            <a:ext cx="5857500.0" cy="3550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85800" y="5140000"/>
            <a:ext cx="10820400" cy="7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52565C"/>
                </a:solidFill>
                <a:latin typeface="Segoe UI"/>
              </a:rPr>
              <a:t>Central East and Northeast lead most quarters; total revenue (band height) swings 3× quarter to quarter with no region showing a sustained upward trend.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6428000"/>
            <a:ext cx="10820400" cy="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8A8D85"/>
                </a:solidFill>
                <a:latin typeface="Consolas"/>
              </a:rPr>
              <a:t>Red30 Tech · Key Insights · Slide 8 of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le 2"/>
          <p:cNvSpPr/>
          <p:nvPr/>
        </p:nvSpPr>
        <p:spPr>
          <a:xfrm>
            <a:off x="685800" y="442000"/>
            <a:ext cx="320000" cy="25000"/>
          </a:xfrm>
          <a:prstGeom prst="rect">
            <a:avLst/>
          </a:prstGeom>
          <a:solidFill>
            <a:srgbClr val="B4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85800" y="380000"/>
            <a:ext cx="104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392B"/>
                </a:solidFill>
                <a:latin typeface="Consolas"/>
              </a:rPr>
              <a:t>DATA QUALITY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0000"/>
            <a:ext cx="10820400" cy="85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181C"/>
                </a:solidFill>
                <a:latin typeface="Segoe UI"/>
              </a:rPr>
              <a:t>Three revenue figures, one company, no match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600000"/>
            <a:ext cx="10820400" cy="19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285750" indent="-285750" algn="l">
              <a:spcAft>
                <a:spcPts val="500"/>
              </a:spcAft>
              <a:buFont typeface="Arial"/>
              <a:buChar char="•"/>
            </a:pPr>
            <a:r>
              <a:rPr lang="en-US" sz="1700" b="1" dirty="0">
                <a:solidFill>
                  <a:srgbClr val="15181C"/>
                </a:solidFill>
                <a:latin typeface="Segoe UI"/>
              </a:rPr>
              <a:t>Financial Statement</a:t>
            </a:r>
            <a:r>
              <a:rPr lang="en-US" sz="1700" dirty="0">
                <a:solidFill>
                  <a:srgbClr val="52565C"/>
                </a:solidFill>
                <a:latin typeface="Segoe UI"/>
              </a:rPr>
              <a:t>  (2018 income statement):  </a:t>
            </a:r>
            <a:r>
              <a:rPr lang="en-US" sz="1700" b="1" dirty="0">
                <a:solidFill>
                  <a:srgbClr val="B4392B"/>
                </a:solidFill>
                <a:latin typeface="Consolas"/>
              </a:rPr>
              <a:t>$1,013,072,000</a:t>
            </a:r>
          </a:p>
          <a:p>
            <a:pPr marL="285750" indent="-285750" algn="l">
              <a:spcAft>
                <a:spcPts val="500"/>
              </a:spcAft>
              <a:buFont typeface="Arial"/>
              <a:buChar char="•"/>
            </a:pPr>
            <a:r>
              <a:rPr lang="en-US" sz="1700" b="1" dirty="0">
                <a:solidFill>
                  <a:srgbClr val="15181C"/>
                </a:solidFill>
                <a:latin typeface="Segoe UI"/>
              </a:rPr>
              <a:t>Product Line workbook</a:t>
            </a:r>
            <a:r>
              <a:rPr lang="en-US" sz="1700" dirty="0">
                <a:solidFill>
                  <a:srgbClr val="52565C"/>
                </a:solidFill>
                <a:latin typeface="Segoe UI"/>
              </a:rPr>
              <a:t>  (single snapshot):  </a:t>
            </a:r>
            <a:r>
              <a:rPr lang="en-US" sz="1700" b="1" dirty="0">
                <a:solidFill>
                  <a:srgbClr val="B4392B"/>
                </a:solidFill>
                <a:latin typeface="Consolas"/>
              </a:rPr>
              <a:t>$121,258,930</a:t>
            </a:r>
            <a:r>
              <a:rPr lang="en-US" sz="1500" i="1" dirty="0">
                <a:solidFill>
                  <a:srgbClr val="8A8D85"/>
                </a:solidFill>
                <a:latin typeface="Segoe UI"/>
              </a:rPr>
              <a:t>  — 8.4× smaller</a:t>
            </a:r>
          </a:p>
          <a:p>
            <a:pPr marL="285750" indent="-285750" algn="l">
              <a:spcAft>
                <a:spcPts val="500"/>
              </a:spcAft>
              <a:buFont typeface="Arial"/>
              <a:buChar char="•"/>
            </a:pPr>
            <a:r>
              <a:rPr lang="en-US" sz="1700" b="1" dirty="0">
                <a:solidFill>
                  <a:srgbClr val="15181C"/>
                </a:solidFill>
                <a:latin typeface="Segoe UI"/>
              </a:rPr>
              <a:t>Order-level transactions</a:t>
            </a:r>
            <a:r>
              <a:rPr lang="en-US" sz="1700" dirty="0">
                <a:solidFill>
                  <a:srgbClr val="52565C"/>
                </a:solidFill>
                <a:latin typeface="Segoe UI"/>
              </a:rPr>
              <a:t>  (4,976 orders, Sep 2017–Aug 2019):  </a:t>
            </a:r>
            <a:r>
              <a:rPr lang="en-US" sz="1700" b="1" dirty="0">
                <a:solidFill>
                  <a:srgbClr val="B4392B"/>
                </a:solidFill>
                <a:latin typeface="Consolas"/>
              </a:rPr>
              <a:t>$6,899,236</a:t>
            </a:r>
            <a:r>
              <a:rPr lang="en-US" sz="1500" i="1" dirty="0">
                <a:solidFill>
                  <a:srgbClr val="8A8D85"/>
                </a:solidFill>
                <a:latin typeface="Segoe UI"/>
              </a:rPr>
              <a:t>  — 147× smaller than the Financial Statement</a:t>
            </a:r>
          </a:p>
        </p:txBody>
      </p:sp>
      <p:sp>
        <p:nvSpPr>
          <p:cNvPr id="6" name="Card 6"/>
          <p:cNvSpPr/>
          <p:nvPr/>
        </p:nvSpPr>
        <p:spPr>
          <a:xfrm>
            <a:off x="685800" y="3750000"/>
            <a:ext cx="10820400" cy="1350000"/>
          </a:xfrm>
          <a:prstGeom prst="roundRect">
            <a:avLst>
              <a:gd name="adj" fmla="val 3000"/>
            </a:avLst>
          </a:prstGeom>
          <a:solidFill>
            <a:srgbClr val="FBEFEC"/>
          </a:solidFill>
          <a:ln w="9525">
            <a:solidFill>
              <a:srgbClr val="B439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945800" y="3920000"/>
            <a:ext cx="10300400" cy="11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5181C"/>
                </a:solidFill>
                <a:latin typeface="Segoe UI"/>
              </a:rPr>
              <a:t>These aren’t tiers of one model — they’re independent datasets that happen to share a company name.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52565C"/>
                </a:solidFill>
                <a:latin typeface="Segoe UI"/>
              </a:rPr>
              <a:t>Product Line’s own two tabs agree with each other to the penny ($121,258,930.23, both times); the mismatch is only across files, never within one.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6428000"/>
            <a:ext cx="10820400" cy="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8A8D85"/>
                </a:solidFill>
                <a:latin typeface="Consolas"/>
              </a:rPr>
              <a:t>Red30 Tech · Key Insights · Slide 9 of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le 2"/>
          <p:cNvSpPr/>
          <p:nvPr/>
        </p:nvSpPr>
        <p:spPr>
          <a:xfrm>
            <a:off x="685800" y="442000"/>
            <a:ext cx="320000" cy="25000"/>
          </a:xfrm>
          <a:prstGeom prst="rect">
            <a:avLst/>
          </a:prstGeom>
          <a:solidFill>
            <a:srgbClr val="B4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85800" y="380000"/>
            <a:ext cx="104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392B"/>
                </a:solidFill>
                <a:latin typeface="Consolas"/>
              </a:rPr>
              <a:t>MARKET CONTEXT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0000"/>
            <a:ext cx="10820400" cy="85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5181C"/>
                </a:solidFill>
                <a:latin typeface="Segoe UI"/>
              </a:rPr>
              <a:t>Red30 Tech vs. the real market, 2017–2019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650000"/>
            <a:ext cx="10820400" cy="17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700" dirty="0">
                <a:solidFill>
                  <a:srgbClr val="15181C"/>
                </a:solidFill>
                <a:latin typeface="Segoe UI"/>
              </a:rPr>
              <a:t>U.S. retail sales grew 4.0% (2017) and 4.3% (2018); </a:t>
            </a:r>
            <a:r>
              <a:rPr lang="en-US" sz="1700" dirty="0">
                <a:solidFill>
                  <a:srgbClr val="52565C"/>
                </a:solidFill>
                <a:latin typeface="Segoe UI"/>
              </a:rPr>
              <a:t>e-commerce specifically grew 15.5% (2017), 14.2% (2018), 14.9% (2019).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US" sz="1700" b="1" dirty="0">
                <a:solidFill>
                  <a:srgbClr val="B4392B"/>
                </a:solidFill>
                <a:latin typeface="Segoe UI"/>
              </a:rPr>
              <a:t>Red30 Tech’s five-year revenue CAGR (2.6%/yr) </a:t>
            </a:r>
            <a:r>
              <a:rPr lang="en-US" sz="1700" dirty="0">
                <a:solidFill>
                  <a:srgbClr val="52565C"/>
                </a:solidFill>
                <a:latin typeface="Segoe UI"/>
              </a:rPr>
              <a:t>and its order-level data (flat, no growth trend) both sit well below these benchmarks.</a:t>
            </a:r>
          </a:p>
        </p:txBody>
      </p:sp>
      <p:sp>
        <p:nvSpPr>
          <p:cNvPr id="6" name="Card 6"/>
          <p:cNvSpPr/>
          <p:nvPr/>
        </p:nvSpPr>
        <p:spPr>
          <a:xfrm>
            <a:off x="685800" y="3500000"/>
            <a:ext cx="10820400" cy="900000"/>
          </a:xfrm>
          <a:prstGeom prst="roundRect">
            <a:avLst>
              <a:gd name="adj" fmla="val 3000"/>
            </a:avLst>
          </a:prstGeom>
          <a:solidFill>
            <a:srgbClr val="FBEFEC"/>
          </a:solidFill>
          <a:ln w="9525">
            <a:solidFill>
              <a:srgbClr val="B439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945800" y="3670000"/>
            <a:ext cx="10300400" cy="65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4392B"/>
                </a:solidFill>
                <a:latin typeface="Segoe UI"/>
              </a:rPr>
              <a:t>Executive read: </a:t>
            </a:r>
            <a:r>
              <a:rPr lang="en-US" sz="1600" dirty="0">
                <a:solidFill>
                  <a:srgbClr val="15181C"/>
                </a:solidFill>
                <a:latin typeface="Segoe UI"/>
              </a:rPr>
              <a:t>don’t use this dataset as a growth-rate reference for real retail or e-commerce planning.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4650000"/>
            <a:ext cx="10820400" cy="5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100" dirty="0">
                <a:solidFill>
                  <a:srgbClr val="8A8D85"/>
                </a:solidFill>
                <a:latin typeface="Consolas"/>
              </a:rPr>
              <a:t>Source: U.S. Census Bureau, Annual Retail Trade Survey · Digital Commerce 360, retrieved August 2, 2026.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428000"/>
            <a:ext cx="10820400" cy="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8A8D85"/>
                </a:solidFill>
                <a:latin typeface="Consolas"/>
              </a:rPr>
              <a:t>Red30 Tech · Key Insights · Slide 10 of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le 2"/>
          <p:cNvSpPr/>
          <p:nvPr/>
        </p:nvSpPr>
        <p:spPr>
          <a:xfrm>
            <a:off x="685800" y="442000"/>
            <a:ext cx="320000" cy="25000"/>
          </a:xfrm>
          <a:prstGeom prst="rect">
            <a:avLst/>
          </a:prstGeom>
          <a:solidFill>
            <a:srgbClr val="B4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85800" y="380000"/>
            <a:ext cx="104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392B"/>
                </a:solidFill>
                <a:latin typeface="Consolas"/>
              </a:rPr>
              <a:t>DATA QUALITY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0000"/>
            <a:ext cx="10820400" cy="85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5181C"/>
                </a:solidFill>
                <a:latin typeface="Segoe UI"/>
              </a:rPr>
              <a:t>Three things to fix before this gets reused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650000"/>
            <a:ext cx="10820400" cy="26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285750" indent="-285750" algn="l">
              <a:spcAft>
                <a:spcPts val="550"/>
              </a:spcAft>
              <a:buFont typeface="Arial"/>
              <a:buChar char="•"/>
            </a:pPr>
            <a:r>
              <a:rPr lang="en-US" sz="1650" b="1" dirty="0">
                <a:solidFill>
                  <a:srgbClr val="15181C"/>
                </a:solidFill>
                <a:latin typeface="Consolas"/>
              </a:rPr>
              <a:t>Overhead Costs.xlsx</a:t>
            </a:r>
            <a:r>
              <a:rPr lang="en-US" sz="1650" dirty="0">
                <a:solidFill>
                  <a:srgbClr val="52565C"/>
                </a:solidFill>
                <a:latin typeface="Segoe UI"/>
              </a:rPr>
              <a:t>  — the 2018 tab’s title still reads “2017 Overhead Costs.”</a:t>
            </a:r>
          </a:p>
          <a:p>
            <a:pPr marL="285750" indent="-285750" algn="l">
              <a:spcAft>
                <a:spcPts val="550"/>
              </a:spcAft>
              <a:buFont typeface="Arial"/>
              <a:buChar char="•"/>
            </a:pPr>
            <a:r>
              <a:rPr lang="en-US" sz="1650" b="1" dirty="0">
                <a:solidFill>
                  <a:srgbClr val="15181C"/>
                </a:solidFill>
                <a:latin typeface="Consolas"/>
              </a:rPr>
              <a:t>Marketing Expenses.xlsx</a:t>
            </a:r>
            <a:r>
              <a:rPr lang="en-US" sz="1650" dirty="0">
                <a:solidFill>
                  <a:srgbClr val="52565C"/>
                </a:solidFill>
                <a:latin typeface="Segoe UI"/>
              </a:rPr>
              <a:t>  — the labor section header changes from “LABOR” (2017) to “MARKETING LABOR” (2018) for the same line items.</a:t>
            </a:r>
          </a:p>
          <a:p>
            <a:pPr marL="285750" indent="-285750" algn="l">
              <a:spcAft>
                <a:spcPts val="550"/>
              </a:spcAft>
              <a:buFont typeface="Arial"/>
              <a:buChar char="•"/>
            </a:pPr>
            <a:r>
              <a:rPr lang="en-US" sz="1650" b="1" dirty="0">
                <a:solidFill>
                  <a:srgbClr val="15181C"/>
                </a:solidFill>
                <a:latin typeface="Consolas"/>
              </a:rPr>
              <a:t>US Online Retail Sales.xlsx / US Sales by Region.xlsx</a:t>
            </a:r>
            <a:r>
              <a:rPr lang="en-US" sz="1650" dirty="0">
                <a:solidFill>
                  <a:srgbClr val="52565C"/>
                </a:solidFill>
                <a:latin typeface="Segoe UI"/>
              </a:rPr>
              <a:t>  — same 4,976 orders, split across two files with no overlapping columns (Discount/Order Total live in one, Employee/Region in the other).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6428000"/>
            <a:ext cx="10820400" cy="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8A8D85"/>
                </a:solidFill>
                <a:latin typeface="Consolas"/>
              </a:rPr>
              <a:t>Red30 Tech · Key Insights · Slide 11 of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le 2"/>
          <p:cNvSpPr/>
          <p:nvPr/>
        </p:nvSpPr>
        <p:spPr>
          <a:xfrm>
            <a:off x="685800" y="442000"/>
            <a:ext cx="320000" cy="25000"/>
          </a:xfrm>
          <a:prstGeom prst="rect">
            <a:avLst/>
          </a:prstGeom>
          <a:solidFill>
            <a:srgbClr val="B4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85800" y="380000"/>
            <a:ext cx="10420400" cy="26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392B"/>
                </a:solidFill>
                <a:latin typeface="Consolas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0000"/>
            <a:ext cx="10820400" cy="85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5181C"/>
                </a:solidFill>
                <a:latin typeface="Segoe UI"/>
              </a:rPr>
              <a:t>What to trust, what to ignore</a:t>
            </a:r>
          </a:p>
        </p:txBody>
      </p:sp>
      <p:sp>
        <p:nvSpPr>
          <p:cNvPr id="5" name="Card 5"/>
          <p:cNvSpPr/>
          <p:nvPr/>
        </p:nvSpPr>
        <p:spPr>
          <a:xfrm>
            <a:off x="685800" y="1650000"/>
            <a:ext cx="5260200" cy="2050000"/>
          </a:xfrm>
          <a:prstGeom prst="roundRect">
            <a:avLst>
              <a:gd name="adj" fmla="val 3000"/>
            </a:avLst>
          </a:prstGeom>
          <a:solidFill>
            <a:srgbClr val="EFF7F1"/>
          </a:solidFill>
          <a:ln w="9525">
            <a:solidFill>
              <a:srgbClr val="1E7A4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05800" y="1820000"/>
            <a:ext cx="4820200" cy="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7A42"/>
                </a:solidFill>
                <a:latin typeface="Consolas"/>
              </a:rPr>
              <a:t>TRUST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5800" y="2200000"/>
            <a:ext cx="4820200" cy="14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285750" indent="-285750" algn="l">
              <a:spcAft>
                <a:spcPts val="350"/>
              </a:spcAft>
              <a:buFont typeface="Arial"/>
              <a:buChar char="•"/>
            </a:pPr>
            <a:r>
              <a:rPr lang="en-US" sz="1400" dirty="0">
                <a:solidFill>
                  <a:srgbClr val="52565C"/>
                </a:solidFill>
                <a:latin typeface="Segoe UI"/>
              </a:rPr>
              <a:t>The statement series (Balance Sheet → Overhead Costs) as one internally consistent five-year model</a:t>
            </a:r>
          </a:p>
          <a:p>
            <a:pPr marL="285750" indent="-285750" algn="l">
              <a:spcAft>
                <a:spcPts val="350"/>
              </a:spcAft>
              <a:buFont typeface="Arial"/>
              <a:buChar char="•"/>
            </a:pPr>
            <a:r>
              <a:rPr lang="en-US" sz="1400" dirty="0">
                <a:solidFill>
                  <a:srgbClr val="52565C"/>
                </a:solidFill>
                <a:latin typeface="Segoe UI"/>
              </a:rPr>
              <a:t>Product Line’s own revenue math — its two tabs agree to the penny</a:t>
            </a:r>
          </a:p>
        </p:txBody>
      </p:sp>
      <p:sp>
        <p:nvSpPr>
          <p:cNvPr id="8" name="Card 8"/>
          <p:cNvSpPr/>
          <p:nvPr/>
        </p:nvSpPr>
        <p:spPr>
          <a:xfrm>
            <a:off x="6246000" y="1650000"/>
            <a:ext cx="5260200" cy="2050000"/>
          </a:xfrm>
          <a:prstGeom prst="roundRect">
            <a:avLst>
              <a:gd name="adj" fmla="val 3000"/>
            </a:avLst>
          </a:prstGeom>
          <a:solidFill>
            <a:srgbClr val="FBEFEC"/>
          </a:solidFill>
          <a:ln w="9525">
            <a:solidFill>
              <a:srgbClr val="B439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466000" y="1820000"/>
            <a:ext cx="4820200" cy="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4392B"/>
                </a:solidFill>
                <a:latin typeface="Consolas"/>
              </a:rPr>
              <a:t>TREAT SEPARATELY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66000" y="2200000"/>
            <a:ext cx="4820200" cy="14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285750" indent="-285750" algn="l">
              <a:spcAft>
                <a:spcPts val="280"/>
              </a:spcAft>
              <a:buFont typeface="Arial"/>
              <a:buChar char="•"/>
            </a:pPr>
            <a:r>
              <a:rPr lang="en-US" sz="1300" dirty="0">
                <a:solidFill>
                  <a:srgbClr val="52565C"/>
                </a:solidFill>
                <a:latin typeface="Segoe UI"/>
              </a:rPr>
              <a:t>Reconciling order-level or Product Line revenue against the income statement — they’re unrelated datasets</a:t>
            </a:r>
          </a:p>
          <a:p>
            <a:pPr marL="285750" indent="-285750" algn="l">
              <a:spcAft>
                <a:spcPts val="280"/>
              </a:spcAft>
              <a:buFont typeface="Arial"/>
              <a:buChar char="•"/>
            </a:pPr>
            <a:r>
              <a:rPr lang="en-US" sz="1300" dirty="0">
                <a:solidFill>
                  <a:srgbClr val="52565C"/>
                </a:solidFill>
                <a:latin typeface="Segoe UI"/>
              </a:rPr>
              <a:t>The order data as a seasonality example — no real holiday pattern</a:t>
            </a:r>
          </a:p>
          <a:p>
            <a:pPr marL="285750" indent="-285750" algn="l">
              <a:spcAft>
                <a:spcPts val="280"/>
              </a:spcAft>
              <a:buFont typeface="Arial"/>
              <a:buChar char="•"/>
            </a:pPr>
            <a:r>
              <a:rPr lang="en-US" sz="1300" dirty="0">
                <a:solidFill>
                  <a:srgbClr val="52565C"/>
                </a:solidFill>
                <a:latin typeface="Segoe UI"/>
              </a:rPr>
              <a:t>Red30 Tech’s growth rate as a market benchmark — well under actual 2017–2019 retail/e-commerce growth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4050000"/>
            <a:ext cx="10820400" cy="9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150" dirty="0">
                <a:solidFill>
                  <a:srgbClr val="8A8D85"/>
                </a:solidFill>
                <a:latin typeface="Consolas"/>
              </a:rPr>
              <a:t>Method: local .xlsx files parsed directly from OOXML (zipfile + stdlib XML); charts rendered via headless-browser SVG export; benchmark figures via web search, August 2026 (U.S. Census Bureau ARTS; Digital Commerce 360).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" y="6428000"/>
            <a:ext cx="10820400" cy="30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8A8D85"/>
                </a:solidFill>
                <a:latin typeface="Consolas"/>
              </a:rPr>
              <a:t>Red30 Tech · Key Insights · Slide 12 of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d30 Audit Theme">
  <a:themeElements>
    <a:clrScheme name="Red30">
      <a:dk1>
        <a:srgbClr val="15181C"/>
      </a:dk1>
      <a:lt1>
        <a:srgbClr val="FFFFFF"/>
      </a:lt1>
      <a:dk2>
        <a:srgbClr val="52565C"/>
      </a:dk2>
      <a:lt2>
        <a:srgbClr val="F3F4EF"/>
      </a:lt2>
      <a:accent1>
        <a:srgbClr val="B4392B"/>
      </a:accent1>
      <a:accent2>
        <a:srgbClr val="1F5C99"/>
      </a:accent2>
      <a:accent3>
        <a:srgbClr val="2A78D6"/>
      </a:accent3>
      <a:accent4>
        <a:srgbClr val="EB6834"/>
      </a:accent4>
      <a:accent5>
        <a:srgbClr val="1BAF7A"/>
      </a:accent5>
      <a:accent6>
        <a:srgbClr val="EDA100"/>
      </a:accent6>
      <a:hlink>
        <a:srgbClr val="1F5C99"/>
      </a:hlink>
      <a:folHlink>
        <a:srgbClr val="B4392B"/>
      </a:folHlink>
    </a:clrScheme>
    <a:fontScheme name="Red30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Red3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Claude Code</Application>
  <PresentationFormat>Widescreen</PresentationFormat>
  <Slides>12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Red30 Tech — Key Insights from the Finance Spreadsheets</dc:title>
  <dc:creator>Claude Code</dc:creator>
  <cp:lastModifiedBy>Claude Code</cp:lastModifiedBy>
  <dcterms:created xsi:type="dcterms:W3CDTF">2026-08-08T00:00:00Z</dcterms:created>
  <dcterms:modified xsi:type="dcterms:W3CDTF">2026-08-08T00:00:00Z</dcterms:modified>
</cp:coreProperties>
</file>